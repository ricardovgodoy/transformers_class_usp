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X+dynqwDoO2JYWUQT3BcnBD/J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961120" y="4754880"/>
            <a:ext cx="320040" cy="320040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961120" y="5257800"/>
            <a:ext cx="320040" cy="320040"/>
          </a:xfrm>
          <a:prstGeom prst="rect">
            <a:avLst/>
          </a:prstGeom>
          <a:solidFill>
            <a:srgbClr val="14B8A6">
              <a:alpha val="41176"/>
            </a:srgbClr>
          </a:solidFill>
          <a:ln cap="flat" cmpd="sng" w="12700">
            <a:solidFill>
              <a:srgbClr val="14B8A6">
                <a:alpha val="4117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961120" y="5760720"/>
            <a:ext cx="320040" cy="320040"/>
          </a:xfrm>
          <a:prstGeom prst="rect">
            <a:avLst/>
          </a:prstGeom>
          <a:solidFill>
            <a:srgbClr val="14B8A6">
              <a:alpha val="36862"/>
            </a:srgbClr>
          </a:solidFill>
          <a:ln cap="flat" cmpd="sng" w="12700">
            <a:solidFill>
              <a:srgbClr val="14B8A6">
                <a:alpha val="3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961120" y="6263640"/>
            <a:ext cx="320040" cy="320040"/>
          </a:xfrm>
          <a:prstGeom prst="rect">
            <a:avLst/>
          </a:prstGeom>
          <a:solidFill>
            <a:srgbClr val="14B8A6">
              <a:alpha val="32941"/>
            </a:srgbClr>
          </a:solidFill>
          <a:ln cap="flat" cmpd="sng" w="12700">
            <a:solidFill>
              <a:srgbClr val="14B8A6">
                <a:alpha val="3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9464040" y="4754880"/>
            <a:ext cx="320040" cy="320040"/>
          </a:xfrm>
          <a:prstGeom prst="rect">
            <a:avLst/>
          </a:prstGeom>
          <a:solidFill>
            <a:srgbClr val="14B8A6">
              <a:alpha val="41176"/>
            </a:srgbClr>
          </a:solidFill>
          <a:ln cap="flat" cmpd="sng" w="12700">
            <a:solidFill>
              <a:srgbClr val="14B8A6">
                <a:alpha val="4117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9464040" y="5257800"/>
            <a:ext cx="320040" cy="320040"/>
          </a:xfrm>
          <a:prstGeom prst="rect">
            <a:avLst/>
          </a:prstGeom>
          <a:solidFill>
            <a:srgbClr val="14B8A6">
              <a:alpha val="36862"/>
            </a:srgbClr>
          </a:solidFill>
          <a:ln cap="flat" cmpd="sng" w="12700">
            <a:solidFill>
              <a:srgbClr val="14B8A6">
                <a:alpha val="3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9464040" y="5760720"/>
            <a:ext cx="320040" cy="320040"/>
          </a:xfrm>
          <a:prstGeom prst="rect">
            <a:avLst/>
          </a:prstGeom>
          <a:solidFill>
            <a:srgbClr val="14B8A6">
              <a:alpha val="32941"/>
            </a:srgbClr>
          </a:solidFill>
          <a:ln cap="flat" cmpd="sng" w="12700">
            <a:solidFill>
              <a:srgbClr val="14B8A6">
                <a:alpha val="3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9464040" y="6263640"/>
            <a:ext cx="320040" cy="320040"/>
          </a:xfrm>
          <a:prstGeom prst="rect">
            <a:avLst/>
          </a:prstGeom>
          <a:solidFill>
            <a:srgbClr val="14B8A6">
              <a:alpha val="29019"/>
            </a:srgbClr>
          </a:solidFill>
          <a:ln cap="flat" cmpd="sng" w="12700">
            <a:solidFill>
              <a:srgbClr val="14B8A6">
                <a:alpha val="2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9966960" y="4754880"/>
            <a:ext cx="320040" cy="320040"/>
          </a:xfrm>
          <a:prstGeom prst="rect">
            <a:avLst/>
          </a:prstGeom>
          <a:solidFill>
            <a:srgbClr val="14B8A6">
              <a:alpha val="36862"/>
            </a:srgbClr>
          </a:solidFill>
          <a:ln cap="flat" cmpd="sng" w="12700">
            <a:solidFill>
              <a:srgbClr val="14B8A6">
                <a:alpha val="3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9966960" y="5257800"/>
            <a:ext cx="320040" cy="320040"/>
          </a:xfrm>
          <a:prstGeom prst="rect">
            <a:avLst/>
          </a:prstGeom>
          <a:solidFill>
            <a:srgbClr val="14B8A6">
              <a:alpha val="32941"/>
            </a:srgbClr>
          </a:solidFill>
          <a:ln cap="flat" cmpd="sng" w="12700">
            <a:solidFill>
              <a:srgbClr val="14B8A6">
                <a:alpha val="3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9966960" y="5760720"/>
            <a:ext cx="320040" cy="320040"/>
          </a:xfrm>
          <a:prstGeom prst="rect">
            <a:avLst/>
          </a:prstGeom>
          <a:solidFill>
            <a:srgbClr val="14B8A6">
              <a:alpha val="29019"/>
            </a:srgbClr>
          </a:solidFill>
          <a:ln cap="flat" cmpd="sng" w="12700">
            <a:solidFill>
              <a:srgbClr val="14B8A6">
                <a:alpha val="2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9966960" y="6263640"/>
            <a:ext cx="320040" cy="320040"/>
          </a:xfrm>
          <a:prstGeom prst="rect">
            <a:avLst/>
          </a:prstGeom>
          <a:solidFill>
            <a:srgbClr val="14B8A6">
              <a:alpha val="25098"/>
            </a:srgbClr>
          </a:solidFill>
          <a:ln cap="flat" cmpd="sng" w="12700">
            <a:solidFill>
              <a:srgbClr val="14B8A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10469880" y="4754880"/>
            <a:ext cx="320040" cy="320040"/>
          </a:xfrm>
          <a:prstGeom prst="rect">
            <a:avLst/>
          </a:prstGeom>
          <a:solidFill>
            <a:srgbClr val="14B8A6">
              <a:alpha val="32941"/>
            </a:srgbClr>
          </a:solidFill>
          <a:ln cap="flat" cmpd="sng" w="12700">
            <a:solidFill>
              <a:srgbClr val="14B8A6">
                <a:alpha val="3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10469880" y="5257800"/>
            <a:ext cx="320040" cy="320040"/>
          </a:xfrm>
          <a:prstGeom prst="rect">
            <a:avLst/>
          </a:prstGeom>
          <a:solidFill>
            <a:srgbClr val="14B8A6">
              <a:alpha val="29019"/>
            </a:srgbClr>
          </a:solidFill>
          <a:ln cap="flat" cmpd="sng" w="12700">
            <a:solidFill>
              <a:srgbClr val="14B8A6">
                <a:alpha val="2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10469880" y="5760720"/>
            <a:ext cx="320040" cy="320040"/>
          </a:xfrm>
          <a:prstGeom prst="rect">
            <a:avLst/>
          </a:prstGeom>
          <a:solidFill>
            <a:srgbClr val="14B8A6">
              <a:alpha val="25098"/>
            </a:srgbClr>
          </a:solidFill>
          <a:ln cap="flat" cmpd="sng" w="12700">
            <a:solidFill>
              <a:srgbClr val="14B8A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10469880" y="6263640"/>
            <a:ext cx="320040" cy="320040"/>
          </a:xfrm>
          <a:prstGeom prst="rect">
            <a:avLst/>
          </a:prstGeom>
          <a:solidFill>
            <a:srgbClr val="14B8A6">
              <a:alpha val="21176"/>
            </a:srgbClr>
          </a:solidFill>
          <a:ln cap="flat" cmpd="sng" w="12700">
            <a:solidFill>
              <a:srgbClr val="14B8A6">
                <a:alpha val="2117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10972800" y="4754880"/>
            <a:ext cx="320040" cy="320040"/>
          </a:xfrm>
          <a:prstGeom prst="rect">
            <a:avLst/>
          </a:prstGeom>
          <a:solidFill>
            <a:srgbClr val="14B8A6">
              <a:alpha val="29019"/>
            </a:srgbClr>
          </a:solidFill>
          <a:ln cap="flat" cmpd="sng" w="12700">
            <a:solidFill>
              <a:srgbClr val="14B8A6">
                <a:alpha val="2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10972800" y="5257800"/>
            <a:ext cx="320040" cy="320040"/>
          </a:xfrm>
          <a:prstGeom prst="rect">
            <a:avLst/>
          </a:prstGeom>
          <a:solidFill>
            <a:srgbClr val="14B8A6">
              <a:alpha val="25098"/>
            </a:srgbClr>
          </a:solidFill>
          <a:ln cap="flat" cmpd="sng" w="12700">
            <a:solidFill>
              <a:srgbClr val="14B8A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10972800" y="5760720"/>
            <a:ext cx="320040" cy="320040"/>
          </a:xfrm>
          <a:prstGeom prst="rect">
            <a:avLst/>
          </a:prstGeom>
          <a:solidFill>
            <a:srgbClr val="14B8A6">
              <a:alpha val="21176"/>
            </a:srgbClr>
          </a:solidFill>
          <a:ln cap="flat" cmpd="sng" w="12700">
            <a:solidFill>
              <a:srgbClr val="14B8A6">
                <a:alpha val="2117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10972800" y="6263640"/>
            <a:ext cx="320040" cy="320040"/>
          </a:xfrm>
          <a:prstGeom prst="rect">
            <a:avLst/>
          </a:prstGeom>
          <a:solidFill>
            <a:srgbClr val="14B8A6">
              <a:alpha val="16862"/>
            </a:srgbClr>
          </a:solidFill>
          <a:ln cap="flat" cmpd="sng" w="12700">
            <a:solidFill>
              <a:srgbClr val="14B8A6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11475720" y="4754880"/>
            <a:ext cx="320040" cy="320040"/>
          </a:xfrm>
          <a:prstGeom prst="rect">
            <a:avLst/>
          </a:prstGeom>
          <a:solidFill>
            <a:srgbClr val="14B8A6">
              <a:alpha val="25098"/>
            </a:srgbClr>
          </a:solidFill>
          <a:ln cap="flat" cmpd="sng" w="12700">
            <a:solidFill>
              <a:srgbClr val="14B8A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11475720" y="5257800"/>
            <a:ext cx="320040" cy="320040"/>
          </a:xfrm>
          <a:prstGeom prst="rect">
            <a:avLst/>
          </a:prstGeom>
          <a:solidFill>
            <a:srgbClr val="14B8A6">
              <a:alpha val="21176"/>
            </a:srgbClr>
          </a:solidFill>
          <a:ln cap="flat" cmpd="sng" w="12700">
            <a:solidFill>
              <a:srgbClr val="14B8A6">
                <a:alpha val="2117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11475720" y="5760720"/>
            <a:ext cx="320040" cy="320040"/>
          </a:xfrm>
          <a:prstGeom prst="rect">
            <a:avLst/>
          </a:prstGeom>
          <a:solidFill>
            <a:srgbClr val="14B8A6">
              <a:alpha val="16862"/>
            </a:srgbClr>
          </a:solidFill>
          <a:ln cap="flat" cmpd="sng" w="12700">
            <a:solidFill>
              <a:srgbClr val="14B8A6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11475720" y="6263640"/>
            <a:ext cx="320040" cy="320040"/>
          </a:xfrm>
          <a:prstGeom prst="rect">
            <a:avLst/>
          </a:prstGeom>
          <a:solidFill>
            <a:srgbClr val="14B8A6">
              <a:alpha val="12941"/>
            </a:srgbClr>
          </a:solidFill>
          <a:ln cap="flat" cmpd="sng" w="12700">
            <a:solidFill>
              <a:srgbClr val="14B8A6">
                <a:alpha val="1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640080" y="14630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LECTURE  ·  NEURAL NETWORKS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640080" y="192024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Georgia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Transformers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640080" y="329184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Attention, self-attention, and the architecture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that </a:t>
            </a:r>
            <a:r>
              <a:rPr lang="en-US" sz="22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changed </a:t>
            </a:r>
            <a:r>
              <a:rPr b="0" i="0" lang="en-US" sz="2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modern AI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640080" y="4480560"/>
            <a:ext cx="320040" cy="7315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640080" y="4663440"/>
            <a:ext cx="7315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Dr. Ricardo Vilela de Godoy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Postdoctoral Researcher  ·  USP Robotics Center (CRoB)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São Carlos, Brazi</a:t>
            </a:r>
            <a:r>
              <a:rPr lang="en-US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·  April 1</a:t>
            </a:r>
            <a:r>
              <a:rPr lang="en-US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AGENDA  ·  3 HOURS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572000" y="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Transformers  ·  USP CRoB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Today's plan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57200" y="1920240"/>
            <a:ext cx="1124712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57200" y="1920240"/>
            <a:ext cx="109728" cy="1188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688" y="23500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1554480" y="2103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14:30 — 15:30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554480" y="23317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Part I · Theory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554480" y="269748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From seq2seq limits to self-attention. Encoder, decoder, multi-head attention, positional encoding. Walk through the full Transformer block.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57200" y="3337560"/>
            <a:ext cx="1124712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457200" y="3337560"/>
            <a:ext cx="109728" cy="1188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822960" y="3657600"/>
            <a:ext cx="548640" cy="548640"/>
          </a:xfrm>
          <a:prstGeom prst="ellipse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688" y="37673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/>
          <p:nvPr/>
        </p:nvSpPr>
        <p:spPr>
          <a:xfrm>
            <a:off x="1554480" y="3520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15:30 — 15:50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1554480" y="37490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Break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1554480" y="411480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Coffee, questions, </a:t>
            </a: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etc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. Regroup at 15:50.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57200" y="4754880"/>
            <a:ext cx="1124712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457200" y="4754880"/>
            <a:ext cx="109728" cy="1188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822960" y="5074920"/>
            <a:ext cx="548640" cy="548640"/>
          </a:xfrm>
          <a:prstGeom prst="ellipse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2688" y="518464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"/>
          <p:cNvSpPr/>
          <p:nvPr/>
        </p:nvSpPr>
        <p:spPr>
          <a:xfrm>
            <a:off x="1554480" y="49377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15:50 — 17:30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1554480" y="51663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Part II · Hands-on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1554480" y="553212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Google c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olab challenge: implement self-attention, a multi-head layer, and train a mini character-level Transformer on Tiny Shakespeare.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Dr. Ricardo V. de Godoy  ·  Neural Networks  ·  Transformers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PART I  ·  MOTIVATION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572000" y="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Transformers  ·  USP CRoB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Why not just use RNNs?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The sequential bottleneck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57200" y="2286000"/>
            <a:ext cx="54864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Computation is inherently sequential — hidden state </a:t>
            </a:r>
            <a:r>
              <a:rPr b="0" i="1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h_t</a:t>
            </a: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depends on </a:t>
            </a:r>
            <a:r>
              <a:rPr b="0" i="1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h_{t−1}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No parallelism along the time axis → slow training on long sequences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Long-range dependencies fade through many non-linear steps (vanishing gradients)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LSTM/GRU help, but do not remove the fundamental limit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583680" y="1828800"/>
            <a:ext cx="5120640" cy="402336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6583680" y="1828800"/>
            <a:ext cx="5120640" cy="7315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6766560" y="20574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The answer (2017)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766560" y="2423160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Attention is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All You Need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766560" y="388620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Vaswani et al., NeurIPS 2017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766560" y="4343400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Replace recurrence with attention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Process the whole sequence in parallel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Direct O(1) path between any two tokens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Dr. Ricardo V. de Godoy  ·  Neural Networks  ·  Transformers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PART I  ·  INTUITION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572000" y="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Transformers  ·  USP CRoB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The core idea: attention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Every token looks at every other token and decides what to focus 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57200" y="242316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query: the token 'block' attends to …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822960" y="2788920"/>
            <a:ext cx="150876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822960" y="2788920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051560" y="5021885"/>
            <a:ext cx="1051560" cy="98755"/>
          </a:xfrm>
          <a:prstGeom prst="rect">
            <a:avLst/>
          </a:prstGeom>
          <a:solidFill>
            <a:srgbClr val="14B8A6">
              <a:alpha val="54901"/>
            </a:srgbClr>
          </a:solidFill>
          <a:ln cap="flat" cmpd="sng" w="12700">
            <a:solidFill>
              <a:srgbClr val="14B8A6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822960" y="521208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0.04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423160" y="2788920"/>
            <a:ext cx="150876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2423160" y="2788920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robot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2651760" y="4577486"/>
            <a:ext cx="1051560" cy="543154"/>
          </a:xfrm>
          <a:prstGeom prst="rect">
            <a:avLst/>
          </a:prstGeom>
          <a:solidFill>
            <a:srgbClr val="14B8A6">
              <a:alpha val="54901"/>
            </a:srgbClr>
          </a:solidFill>
          <a:ln cap="flat" cmpd="sng" w="12700">
            <a:solidFill>
              <a:srgbClr val="14B8A6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2423160" y="521208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0.22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023360" y="2788920"/>
            <a:ext cx="150876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4023360" y="2788920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picked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251960" y="4923130"/>
            <a:ext cx="1051560" cy="197510"/>
          </a:xfrm>
          <a:prstGeom prst="rect">
            <a:avLst/>
          </a:prstGeom>
          <a:solidFill>
            <a:srgbClr val="14B8A6">
              <a:alpha val="54901"/>
            </a:srgbClr>
          </a:solidFill>
          <a:ln cap="flat" cmpd="sng" w="12700">
            <a:solidFill>
              <a:srgbClr val="14B8A6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4023360" y="521208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0.08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623560" y="2788920"/>
            <a:ext cx="150876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5623560" y="2788920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852160" y="5021885"/>
            <a:ext cx="1051560" cy="98755"/>
          </a:xfrm>
          <a:prstGeom prst="rect">
            <a:avLst/>
          </a:prstGeom>
          <a:solidFill>
            <a:srgbClr val="14B8A6">
              <a:alpha val="54901"/>
            </a:srgbClr>
          </a:solidFill>
          <a:ln cap="flat" cmpd="sng" w="12700">
            <a:solidFill>
              <a:srgbClr val="14B8A6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5623560" y="521208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0.04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7223760" y="2788920"/>
            <a:ext cx="150876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7223760" y="2788920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7452360" y="5021885"/>
            <a:ext cx="1051560" cy="98755"/>
          </a:xfrm>
          <a:prstGeom prst="rect">
            <a:avLst/>
          </a:prstGeom>
          <a:solidFill>
            <a:srgbClr val="14B8A6">
              <a:alpha val="54901"/>
            </a:srgbClr>
          </a:solidFill>
          <a:ln cap="flat" cmpd="sng" w="12700">
            <a:solidFill>
              <a:srgbClr val="14B8A6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7223760" y="521208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0.04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8823960" y="2788920"/>
            <a:ext cx="1508760" cy="64008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8823960" y="2788920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9052560" y="3836822"/>
            <a:ext cx="1051560" cy="128381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8823960" y="521208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0.52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0424160" y="2788920"/>
            <a:ext cx="1508760" cy="6400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10424160" y="2788920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0424160" y="521208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(query)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4"/>
          <p:cNvCxnSpPr/>
          <p:nvPr/>
        </p:nvCxnSpPr>
        <p:spPr>
          <a:xfrm>
            <a:off x="640080" y="5148072"/>
            <a:ext cx="1097280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4"/>
          <p:cNvSpPr/>
          <p:nvPr/>
        </p:nvSpPr>
        <p:spPr>
          <a:xfrm>
            <a:off x="457200" y="55321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attention weights (softmax over similarity scores)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Key insight.  </a:t>
            </a: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output for each position is a weighted average of all value vectors in the sequence. The weights are learned from content similarity, not position.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Dr. Ricardo V. de Godoy  ·  Neural Networks  ·  Transformers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PART I  ·  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572000" y="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Transformers  ·  USP CRoB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Architecture at a glance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097280" y="2011680"/>
            <a:ext cx="3840480" cy="40233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1097280" y="20574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ENCODER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1371600" y="2514600"/>
            <a:ext cx="3291840" cy="5029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1371600" y="251460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 embedding + 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1371600" y="3154680"/>
            <a:ext cx="3291840" cy="5029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1371600" y="31546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Multi-head self-attention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1371600" y="3794760"/>
            <a:ext cx="3291840" cy="5029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1371600" y="379476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Add &amp; LayerNorm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1371600" y="4434840"/>
            <a:ext cx="3291840" cy="5029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1371600" y="44348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Feed-forward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1371600" y="5074920"/>
            <a:ext cx="3291840" cy="5029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1371600" y="50749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Add &amp; LayerNorm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40080" y="3657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Georgia"/>
              <a:buNone/>
            </a:pPr>
            <a:r>
              <a:rPr b="1" i="1" lang="en-US" sz="1800" u="none" cap="none" strike="noStrike">
                <a:solidFill>
                  <a:srgbClr val="64748B"/>
                </a:solidFill>
                <a:latin typeface="Georgia"/>
                <a:ea typeface="Georgia"/>
                <a:cs typeface="Georgia"/>
                <a:sym typeface="Georgia"/>
              </a:rPr>
              <a:t>Nx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7223760" y="2011680"/>
            <a:ext cx="3840480" cy="40233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7223760" y="20574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DECODER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7498080" y="2514600"/>
            <a:ext cx="3291840" cy="4572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7498080" y="2514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embedding + 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7498080" y="3063240"/>
            <a:ext cx="3291840" cy="4572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7498080" y="30632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Masked self-attention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7498080" y="3611880"/>
            <a:ext cx="3291840" cy="4572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7498080" y="36118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Add &amp; LayerNorm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7498080" y="4160520"/>
            <a:ext cx="3291840" cy="4572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7498080" y="41605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Cross-attention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7498080" y="4709160"/>
            <a:ext cx="3291840" cy="4572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7498080" y="47091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Add &amp; LayerNorm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7498080" y="5257800"/>
            <a:ext cx="3291840" cy="4572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7498080" y="52578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Feed-forward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11338560" y="3657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Georgia"/>
              <a:buNone/>
            </a:pPr>
            <a:r>
              <a:rPr b="1" i="1" lang="en-US" sz="1800" u="none" cap="none" strike="noStrike">
                <a:solidFill>
                  <a:srgbClr val="64748B"/>
                </a:solidFill>
                <a:latin typeface="Georgia"/>
                <a:ea typeface="Georgia"/>
                <a:cs typeface="Georgia"/>
                <a:sym typeface="Georgia"/>
              </a:rPr>
              <a:t>Nx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5"/>
          <p:cNvCxnSpPr/>
          <p:nvPr/>
        </p:nvCxnSpPr>
        <p:spPr>
          <a:xfrm>
            <a:off x="4937760" y="4114800"/>
            <a:ext cx="228600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5"/>
          <p:cNvSpPr/>
          <p:nvPr/>
        </p:nvSpPr>
        <p:spPr>
          <a:xfrm>
            <a:off x="5120640" y="37947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K, 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1097280" y="61264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Source tokens (e.g. English)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7223760" y="61264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Target tokens (e.g. Portuguese, shifted)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Dr. Ricardo V. de Godoy  ·  Neural Networks  ·  Transformers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PART I  ·  INPUT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572000" y="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Transformers  ·  USP CRoB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Tokens → vectors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57200" y="2011680"/>
            <a:ext cx="265176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457200" y="20574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Raw 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57200" y="237744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"the robot sees"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6"/>
          <p:cNvCxnSpPr/>
          <p:nvPr/>
        </p:nvCxnSpPr>
        <p:spPr>
          <a:xfrm>
            <a:off x="3108960" y="256032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6"/>
          <p:cNvSpPr/>
          <p:nvPr/>
        </p:nvSpPr>
        <p:spPr>
          <a:xfrm>
            <a:off x="3337560" y="2011680"/>
            <a:ext cx="2651760" cy="109728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3337560" y="20574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Tokens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337560" y="237744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[the, robot, sees]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6"/>
          <p:cNvCxnSpPr/>
          <p:nvPr/>
        </p:nvCxnSpPr>
        <p:spPr>
          <a:xfrm>
            <a:off x="5989320" y="256032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6"/>
          <p:cNvSpPr/>
          <p:nvPr/>
        </p:nvSpPr>
        <p:spPr>
          <a:xfrm>
            <a:off x="6217920" y="2011680"/>
            <a:ext cx="2651760" cy="10972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6217920" y="20574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Token IDs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217920" y="237744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[17, 4821, 306]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6"/>
          <p:cNvCxnSpPr/>
          <p:nvPr/>
        </p:nvCxnSpPr>
        <p:spPr>
          <a:xfrm>
            <a:off x="8869680" y="256032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6"/>
          <p:cNvSpPr/>
          <p:nvPr/>
        </p:nvSpPr>
        <p:spPr>
          <a:xfrm>
            <a:off x="9098280" y="2011680"/>
            <a:ext cx="2651760" cy="109728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9098280" y="20574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9098280" y="237744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x ∈ ℝ^{L×d}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457200" y="35661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What actually happens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57200" y="3931920"/>
            <a:ext cx="112471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■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Tokenizers split text into subword units (BPE, WordPiece, SentencePiece) — a middle ground between characters and whole words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Each token ID indexes a learned embedding matrix E ∈ ℝ^{</a:t>
            </a: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×d}, where V is vocabulary size and d is the model dimension (often 512 or 768)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result is a matrix X ∈ ℝ^{L×d}: L tokens, each represented as a dense d-dimensional vector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Embeddings are learned end-to-end jointly with the rest of the network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Dr. Ricardo V. de Godoy  ·  Neural Networks  ·  Transformers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PART I  ·  ORDER MATTERS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4572000" y="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Transformers  ·  USP CRoB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Positional encoding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Attention is permutation-equivariant — we have to inject order explicitly.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457200" y="2377440"/>
            <a:ext cx="566928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457200" y="2377440"/>
            <a:ext cx="109728" cy="3474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731520" y="251460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Original (Vaswani et al.)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731520" y="27889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Sinusoidal encoding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731520" y="324612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PE(pos, 2i)   = sin(pos / 10000^(2i/d))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PE(pos, 2i+1) = cos(pos / 10000^(2i/d))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731520" y="4297680"/>
            <a:ext cx="5303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■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Fixed, no parameters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Each dimension is a sinusoid with a different wavelength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Allows relative-position reasoning via linear combinations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6400800" y="2377440"/>
            <a:ext cx="5303520" cy="34747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6400800" y="2377440"/>
            <a:ext cx="109728" cy="3474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6675120" y="251460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What people use today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675120" y="27889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Modern variants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6675120" y="3246120"/>
            <a:ext cx="49377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Learned absolute embeddings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BERT-style, simple lookup table indexed by position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RoPE (Rotary)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Rotates Q, K vectors by position — used in LLaMA, GPT-NeoX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ALiBi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Adds a linear bias to attention scores; strong length extrapolation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Bottom line: PE is simply added to (or mixed into) the token embeddings before the first attention layer.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Dr. Ricardo V. de Godoy  ·  Neural Networks  ·  Transformers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PART I  ·  THE CORE 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4572000" y="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Transformers  ·  USP CRoB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Self-attention: Q, K, V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From each input vector x, project three different views: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457200" y="2468880"/>
            <a:ext cx="365760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731520" y="2651760"/>
            <a:ext cx="822960" cy="82296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731520" y="26517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1691640" y="27889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Query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1691640" y="31546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am I looking for?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731520" y="39319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Q = x · W_Q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731520" y="43434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learned projection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4389120" y="2468880"/>
            <a:ext cx="365760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4663440" y="2651760"/>
            <a:ext cx="822960" cy="82296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4663440" y="26517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5623560" y="27889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Key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5623560" y="31546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do I contain?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663440" y="39319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K = x · W_K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4663440" y="43434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learned projection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8321040" y="2468880"/>
            <a:ext cx="365760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8595360" y="2651760"/>
            <a:ext cx="822960" cy="822960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8595360" y="26517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9555480" y="27889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Value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9555480" y="31546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will I contribute if chosen?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8595360" y="39319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V = x · W_V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8595360" y="43434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learned projection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457200" y="5029200"/>
            <a:ext cx="109728" cy="109728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731520" y="5166360"/>
            <a:ext cx="10972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Self-attention 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means Q, K, and V are all computed from the same input sequence. </a:t>
            </a: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Cross-attention 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means Q comes from one sequence (e.g. decoder) and K, V from another (e.g. encoder).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Dr. Ricardo V. de Godoy  ·  Neural Networks  ·  Transformers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PART I  ·  THE FORMULA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4572000" y="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Transformers  ·  USP CRoB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Scaled dot-product attention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1371600" y="1920240"/>
            <a:ext cx="9418320" cy="15544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1371600" y="1920240"/>
            <a:ext cx="109728" cy="155448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1371600" y="1920240"/>
            <a:ext cx="9418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onsola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Attention(Q, K, V) = softmax( Q · Kᵀ / √d_k ) · V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457200" y="3794760"/>
            <a:ext cx="265176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1280160" y="397764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Score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640080" y="4526280"/>
            <a:ext cx="2331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Q · Kᵀ </a:t>
            </a:r>
            <a:r>
              <a:rPr lang="en-US" sz="1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dot product between every query and every key. Shape: L × 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3337560" y="3794760"/>
            <a:ext cx="265176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3520440" y="3931920"/>
            <a:ext cx="502920" cy="50292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3520440" y="3931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4160520" y="397764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Scale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3520440" y="4526280"/>
            <a:ext cx="2331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Divide by √d_k to keep gradients well-behaved as d_k grows.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6217920" y="3794760"/>
            <a:ext cx="265176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6400800" y="3931920"/>
            <a:ext cx="502920" cy="50292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6400800" y="3931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7040880" y="397764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Softmax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6400800" y="4526280"/>
            <a:ext cx="2331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Row-wise softmax </a:t>
            </a:r>
            <a:r>
              <a:rPr lang="en-US" sz="1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each row is now a distribution over keys.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9098280" y="3794760"/>
            <a:ext cx="265176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9281160" y="3931920"/>
            <a:ext cx="502920" cy="50292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9281160" y="3931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9921240" y="397764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Aggregate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9281160" y="4526280"/>
            <a:ext cx="2331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Multiply by V </a:t>
            </a:r>
            <a:r>
              <a:rPr lang="en-US" sz="1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each output is a weighted sum of value vectors.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Dr. Ricardo V. de Godoy  ·  Neural Networks  ·  Transformers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PART I  ·  PARALLEL 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4572000" y="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Transformers  ·  USP CRoB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Multi-head attention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457200" y="182880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One attention is not enough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457200" y="2286000"/>
            <a:ext cx="5943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Split d into h parallel heads, each of dim d_k = d / 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Run scaled dot-product attention independently in every head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Concatenate the head outputs and project back with W_O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Each head can learn a different relationship</a:t>
            </a:r>
            <a:r>
              <a:rPr lang="en-US" sz="13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syntax</a:t>
            </a:r>
            <a:r>
              <a:rPr lang="en-US" sz="13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, local vs. global context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457200" y="4754880"/>
            <a:ext cx="5943600" cy="13716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457200" y="4754880"/>
            <a:ext cx="109728" cy="13716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731520" y="4892040"/>
            <a:ext cx="5577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MultiHead(Q,K,V) =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Concat(head_1, …, head_h) · W_O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head_i = Attention(Q·W_Q^i, K·W_K^i, V·W_V^i)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6858000" y="1828800"/>
            <a:ext cx="4846320" cy="4297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6858000" y="192024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h = 8 heads in parallel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7132320" y="2377440"/>
            <a:ext cx="960120" cy="960120"/>
          </a:xfrm>
          <a:prstGeom prst="rect">
            <a:avLst/>
          </a:prstGeom>
          <a:solidFill>
            <a:srgbClr val="14B8A6">
              <a:alpha val="85098"/>
            </a:srgbClr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7132320" y="237744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7132320" y="294436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 K 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8275320" y="2377440"/>
            <a:ext cx="960120" cy="960120"/>
          </a:xfrm>
          <a:prstGeom prst="rect">
            <a:avLst/>
          </a:prstGeom>
          <a:solidFill>
            <a:srgbClr val="0891B2">
              <a:alpha val="85098"/>
            </a:srgbClr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8275320" y="237744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8275320" y="294436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 K 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9418320" y="2377440"/>
            <a:ext cx="960120" cy="960120"/>
          </a:xfrm>
          <a:prstGeom prst="rect">
            <a:avLst/>
          </a:prstGeom>
          <a:solidFill>
            <a:srgbClr val="8B5CF6">
              <a:alpha val="85098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9418320" y="237744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9418320" y="294436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 K 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10561320" y="2377440"/>
            <a:ext cx="960120" cy="960120"/>
          </a:xfrm>
          <a:prstGeom prst="rect">
            <a:avLst/>
          </a:prstGeom>
          <a:solidFill>
            <a:srgbClr val="F59E0B">
              <a:alpha val="85098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10561320" y="237744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10561320" y="294436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 K 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7132320" y="3931920"/>
            <a:ext cx="960120" cy="960120"/>
          </a:xfrm>
          <a:prstGeom prst="rect">
            <a:avLst/>
          </a:prstGeom>
          <a:solidFill>
            <a:srgbClr val="EC4899">
              <a:alpha val="85098"/>
            </a:srgbClr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7132320" y="393192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7132320" y="44988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 K 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8275320" y="3931920"/>
            <a:ext cx="960120" cy="960120"/>
          </a:xfrm>
          <a:prstGeom prst="rect">
            <a:avLst/>
          </a:prstGeom>
          <a:solidFill>
            <a:srgbClr val="10B981">
              <a:alpha val="85098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8275320" y="393192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8275320" y="44988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 K 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9418320" y="3931920"/>
            <a:ext cx="960120" cy="960120"/>
          </a:xfrm>
          <a:prstGeom prst="rect">
            <a:avLst/>
          </a:prstGeom>
          <a:solidFill>
            <a:srgbClr val="6366F1">
              <a:alpha val="85098"/>
            </a:srgbClr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9418320" y="393192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9418320" y="44988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 K 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10561320" y="3931920"/>
            <a:ext cx="960120" cy="960120"/>
          </a:xfrm>
          <a:prstGeom prst="rect">
            <a:avLst/>
          </a:prstGeom>
          <a:solidFill>
            <a:srgbClr val="F97316">
              <a:alpha val="85098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10561320" y="393192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10561320" y="44988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 K 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7132320" y="557784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→ Concat → W_O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Dr. Ricardo V. de Godoy  ·  Neural Networks  ·  Transformers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PART I  ·  PUTTING IT TOGETHER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4572000" y="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Transformers  ·  USP CRoB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The Transformer block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914400" y="1920240"/>
            <a:ext cx="4114800" cy="45720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1234440" y="2148840"/>
            <a:ext cx="3474720" cy="5486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1"/>
          <p:cNvSpPr/>
          <p:nvPr/>
        </p:nvSpPr>
        <p:spPr>
          <a:xfrm>
            <a:off x="1234440" y="214884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 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1234440" y="2834640"/>
            <a:ext cx="3474720" cy="54864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1234440" y="283464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Multi-Head Self-Attn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1234440" y="3520440"/>
            <a:ext cx="3474720" cy="54864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1234440" y="352044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Add &amp; LayerNorm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1234440" y="4206240"/>
            <a:ext cx="3474720" cy="54864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1234440" y="420624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Feed-Forward (MLP)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1234440" y="4892040"/>
            <a:ext cx="3474720" cy="54864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1234440" y="489204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Add &amp; LayerNorm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1234440" y="5577840"/>
            <a:ext cx="3474720" cy="5486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1234440" y="557784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5669280" y="192024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Why this exact recipe?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5669280" y="2423160"/>
            <a:ext cx="73152" cy="82296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5852160" y="242316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Residual connections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5852160" y="2715768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Add x back after each sub-layer — lets gradients flow and preserves the original signal.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5669280" y="3429000"/>
            <a:ext cx="73152" cy="82296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5852160" y="342900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LayerNorm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5852160" y="3721608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Normalizes across features at each token — stabilizes training with deep stacks (often moved pre-norm in modern models).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5669280" y="4434840"/>
            <a:ext cx="73152" cy="82296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1"/>
          <p:cNvSpPr/>
          <p:nvPr/>
        </p:nvSpPr>
        <p:spPr>
          <a:xfrm>
            <a:off x="5852160" y="443484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Feed-forward network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5852160" y="4727448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Two-layer MLP with non-linearity (GELU/ReLU), applied independently to each position. Often d → 4d → 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5669280" y="5440680"/>
            <a:ext cx="73152" cy="82296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5852160" y="544068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Stack N times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5852160" y="5733288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Typical depth: 6 (original), 12 (BERT-base), 24+ (BERT-large, GPT-2 medium and beyond).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Dr. Ricardo V. de Godoy  ·  Neural Networks  ·  Transformers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2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PART I  ·  AUTOREGRESSIVE GENERATION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4572000" y="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Transformers  ·  USP CRoB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Decoder: masking &amp; cross-attention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Causal (look-ahead) mask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Prevents position t from attending to positions &gt; t during training.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1143000" y="2743200"/>
            <a:ext cx="502920" cy="5029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1143000" y="2743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1645920" y="2743200"/>
            <a:ext cx="502920" cy="5029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1645920" y="2743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2148840" y="2743200"/>
            <a:ext cx="502920" cy="5029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2148840" y="2743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2651760" y="2743200"/>
            <a:ext cx="502920" cy="5029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2651760" y="2743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640080" y="3246120"/>
            <a:ext cx="502920" cy="5029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640080" y="3246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1143000" y="3246120"/>
            <a:ext cx="502920" cy="5029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1143000" y="3246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1645920" y="3246120"/>
            <a:ext cx="502920" cy="5029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1645920" y="3246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2148840" y="3246120"/>
            <a:ext cx="502920" cy="5029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2148840" y="3246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2651760" y="3246120"/>
            <a:ext cx="502920" cy="5029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2651760" y="3246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640080" y="3749040"/>
            <a:ext cx="502920" cy="5029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640080" y="3749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1143000" y="3749040"/>
            <a:ext cx="502920" cy="5029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2"/>
          <p:cNvSpPr/>
          <p:nvPr/>
        </p:nvSpPr>
        <p:spPr>
          <a:xfrm>
            <a:off x="1143000" y="3749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1645920" y="3749040"/>
            <a:ext cx="502920" cy="5029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1645920" y="3749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2148840" y="3749040"/>
            <a:ext cx="502920" cy="5029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2"/>
          <p:cNvSpPr/>
          <p:nvPr/>
        </p:nvSpPr>
        <p:spPr>
          <a:xfrm>
            <a:off x="2148840" y="3749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2651760" y="3749040"/>
            <a:ext cx="502920" cy="5029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2651760" y="3749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640080" y="4251960"/>
            <a:ext cx="502920" cy="5029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640080" y="4251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1143000" y="4251960"/>
            <a:ext cx="502920" cy="5029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2"/>
          <p:cNvSpPr/>
          <p:nvPr/>
        </p:nvSpPr>
        <p:spPr>
          <a:xfrm>
            <a:off x="1143000" y="4251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1645920" y="4251960"/>
            <a:ext cx="502920" cy="5029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1645920" y="4251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2148840" y="4251960"/>
            <a:ext cx="502920" cy="5029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2148840" y="4251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2651760" y="4251960"/>
            <a:ext cx="502920" cy="5029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"/>
          <p:cNvSpPr/>
          <p:nvPr/>
        </p:nvSpPr>
        <p:spPr>
          <a:xfrm>
            <a:off x="2651760" y="4251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640080" y="4754880"/>
            <a:ext cx="502920" cy="5029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640080" y="4754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1143000" y="4754880"/>
            <a:ext cx="502920" cy="5029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2"/>
          <p:cNvSpPr/>
          <p:nvPr/>
        </p:nvSpPr>
        <p:spPr>
          <a:xfrm>
            <a:off x="1143000" y="4754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1645920" y="4754880"/>
            <a:ext cx="502920" cy="5029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2"/>
          <p:cNvSpPr/>
          <p:nvPr/>
        </p:nvSpPr>
        <p:spPr>
          <a:xfrm>
            <a:off x="1645920" y="4754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2148840" y="4754880"/>
            <a:ext cx="502920" cy="5029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2"/>
          <p:cNvSpPr/>
          <p:nvPr/>
        </p:nvSpPr>
        <p:spPr>
          <a:xfrm>
            <a:off x="2148840" y="4754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2651760" y="4754880"/>
            <a:ext cx="502920" cy="5029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"/>
          <p:cNvSpPr/>
          <p:nvPr/>
        </p:nvSpPr>
        <p:spPr>
          <a:xfrm>
            <a:off x="2651760" y="4754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640080" y="242316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1143000" y="242316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1645920" y="242316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t3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2148840" y="242316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t4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2651760" y="242316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t5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274320" y="2743200"/>
            <a:ext cx="320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274320" y="3246120"/>
            <a:ext cx="320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274320" y="3749040"/>
            <a:ext cx="320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t3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274320" y="4251960"/>
            <a:ext cx="320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t4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274320" y="4754880"/>
            <a:ext cx="320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t5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457200" y="5486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row = query position · col = key position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457200" y="5760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Implemented by adding −∞ to disallowed scores before softmax.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6400800" y="1828800"/>
            <a:ext cx="5394960" cy="42062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2"/>
          <p:cNvSpPr/>
          <p:nvPr/>
        </p:nvSpPr>
        <p:spPr>
          <a:xfrm>
            <a:off x="6400800" y="1828800"/>
            <a:ext cx="109728" cy="42062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2"/>
          <p:cNvSpPr/>
          <p:nvPr/>
        </p:nvSpPr>
        <p:spPr>
          <a:xfrm>
            <a:off x="6675120" y="20116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Cross-attention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6675120" y="2560320"/>
            <a:ext cx="49377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 from decoder hidden states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K, V</a:t>
            </a: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 from encoder 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decoder asks: “given what I have generated so far, which source tokens should I attend to next?”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This is how translation, summarization, and any seq2seq task wire encoder ↔ decoder together.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Dr. Ricardo V. de Godoy  ·  Neural Networks  ·  Transformers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3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3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PART I  ·  OBJECTIVE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4572000" y="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Transformers  ·  USP CRoB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How do we train it?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457200" y="1920240"/>
            <a:ext cx="566928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3"/>
          <p:cNvSpPr/>
          <p:nvPr/>
        </p:nvSpPr>
        <p:spPr>
          <a:xfrm>
            <a:off x="457200" y="1920240"/>
            <a:ext cx="109728" cy="201168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3"/>
          <p:cNvSpPr/>
          <p:nvPr/>
        </p:nvSpPr>
        <p:spPr>
          <a:xfrm>
            <a:off x="777240" y="2240280"/>
            <a:ext cx="640080" cy="640080"/>
          </a:xfrm>
          <a:prstGeom prst="ellipse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6" name="Google Shape;4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256" y="236829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3"/>
          <p:cNvSpPr/>
          <p:nvPr/>
        </p:nvSpPr>
        <p:spPr>
          <a:xfrm>
            <a:off x="1554480" y="219456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Forward pass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1554480" y="2697480"/>
            <a:ext cx="4480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Tokenize → embed + PE → N Transformer blocks → linear projection to vocabulary → softmax over vocab.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6309360" y="1920240"/>
            <a:ext cx="566928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3"/>
          <p:cNvSpPr/>
          <p:nvPr/>
        </p:nvSpPr>
        <p:spPr>
          <a:xfrm>
            <a:off x="6309360" y="1920240"/>
            <a:ext cx="109728" cy="201168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3"/>
          <p:cNvSpPr/>
          <p:nvPr/>
        </p:nvSpPr>
        <p:spPr>
          <a:xfrm>
            <a:off x="6629400" y="2240280"/>
            <a:ext cx="640080" cy="640080"/>
          </a:xfrm>
          <a:prstGeom prst="ellipse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2" name="Google Shape;48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7416" y="236829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3"/>
          <p:cNvSpPr/>
          <p:nvPr/>
        </p:nvSpPr>
        <p:spPr>
          <a:xfrm>
            <a:off x="7406640" y="219456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Loss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7406640" y="2697480"/>
            <a:ext cx="4480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Cross-entropy between predicted next-token distribution and the true next token at every position.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457200" y="4114800"/>
            <a:ext cx="566928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3"/>
          <p:cNvSpPr/>
          <p:nvPr/>
        </p:nvSpPr>
        <p:spPr>
          <a:xfrm>
            <a:off x="457200" y="4114800"/>
            <a:ext cx="109728" cy="201168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3"/>
          <p:cNvSpPr/>
          <p:nvPr/>
        </p:nvSpPr>
        <p:spPr>
          <a:xfrm>
            <a:off x="777240" y="4434840"/>
            <a:ext cx="640080" cy="640080"/>
          </a:xfrm>
          <a:prstGeom prst="ellipse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8" name="Google Shape;4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5256" y="45628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3"/>
          <p:cNvSpPr/>
          <p:nvPr/>
        </p:nvSpPr>
        <p:spPr>
          <a:xfrm>
            <a:off x="1554480" y="438912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Teacher forcing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1554480" y="4892040"/>
            <a:ext cx="4480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During training, feed the ground-truth target as decoder input, not the model's own predictions. Masking makes this parallel.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6309360" y="4114800"/>
            <a:ext cx="566928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3"/>
          <p:cNvSpPr/>
          <p:nvPr/>
        </p:nvSpPr>
        <p:spPr>
          <a:xfrm>
            <a:off x="6309360" y="4114800"/>
            <a:ext cx="109728" cy="201168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3"/>
          <p:cNvSpPr/>
          <p:nvPr/>
        </p:nvSpPr>
        <p:spPr>
          <a:xfrm>
            <a:off x="6629400" y="4434840"/>
            <a:ext cx="640080" cy="640080"/>
          </a:xfrm>
          <a:prstGeom prst="ellipse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4" name="Google Shape;49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57416" y="45628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3"/>
          <p:cNvSpPr/>
          <p:nvPr/>
        </p:nvSpPr>
        <p:spPr>
          <a:xfrm>
            <a:off x="7406640" y="438912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Optimizer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7406640" y="4892040"/>
            <a:ext cx="4480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Adam / AdamW with warmup + decay (lr ∝ d^{−0.5} · min(step^{−0.5}, step · warmup^{−1.5})).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Dr. Ricardo V. de Godoy  ·  Neural Networks  ·  Transformers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4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4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PART I  ·  BEYOND THE ORIGINAL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4572000" y="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Transformers  ·  USP CRoB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One architecture, three families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457200" y="1920240"/>
            <a:ext cx="365760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4"/>
          <p:cNvSpPr/>
          <p:nvPr/>
        </p:nvSpPr>
        <p:spPr>
          <a:xfrm>
            <a:off x="457200" y="1920240"/>
            <a:ext cx="3657600" cy="4572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4"/>
          <p:cNvSpPr/>
          <p:nvPr/>
        </p:nvSpPr>
        <p:spPr>
          <a:xfrm>
            <a:off x="457200" y="19202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ENCODER-ONLY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731520" y="260604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BERT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731520" y="31089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2018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731520" y="3520440"/>
            <a:ext cx="3200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Used for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Classification, retrieval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Masked language modeling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BERT · RoBERTa · DeBERTa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4389120" y="1920240"/>
            <a:ext cx="365760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4"/>
          <p:cNvSpPr/>
          <p:nvPr/>
        </p:nvSpPr>
        <p:spPr>
          <a:xfrm>
            <a:off x="4389120" y="1920240"/>
            <a:ext cx="3657600" cy="4572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4"/>
          <p:cNvSpPr/>
          <p:nvPr/>
        </p:nvSpPr>
        <p:spPr>
          <a:xfrm>
            <a:off x="4389120" y="19202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DECODER-ONLY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4663440" y="260604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GPT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4663440" y="31089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2018+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4663440" y="3520440"/>
            <a:ext cx="3200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Used for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Generation, chat, 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Next-token prediction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GPT · LLaMA · Mistral · Claude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8321040" y="1920240"/>
            <a:ext cx="365760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4"/>
          <p:cNvSpPr/>
          <p:nvPr/>
        </p:nvSpPr>
        <p:spPr>
          <a:xfrm>
            <a:off x="8321040" y="1920240"/>
            <a:ext cx="3657600" cy="4572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4"/>
          <p:cNvSpPr/>
          <p:nvPr/>
        </p:nvSpPr>
        <p:spPr>
          <a:xfrm>
            <a:off x="8321040" y="19202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ENCODER-DECODER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8595360" y="260604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T5 / BART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8595360" y="31089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2019+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8595360" y="3520440"/>
            <a:ext cx="3200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Used for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Translation, summarization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Denoising / span corruption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T5 · BART · mT5 · Flan-T5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Dr. Ricardo V. de Godoy  ·  Neural Networks  ·  Transformers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5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5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PART I  ·  OUR RESEARCH CONNECTION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4572000" y="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Transformers  ·  USP CRoB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Transformers in Physical AI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5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same architecture is now at the core of robot perception, planning, and control.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457200" y="2468880"/>
            <a:ext cx="1124712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5"/>
          <p:cNvSpPr/>
          <p:nvPr/>
        </p:nvSpPr>
        <p:spPr>
          <a:xfrm>
            <a:off x="457200" y="2468880"/>
            <a:ext cx="91440" cy="82296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0" name="Google Shape;54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15"/>
          <p:cNvSpPr/>
          <p:nvPr/>
        </p:nvSpPr>
        <p:spPr>
          <a:xfrm>
            <a:off x="1325880" y="25603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ViT (2020)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/>
          <p:nvPr/>
        </p:nvSpPr>
        <p:spPr>
          <a:xfrm>
            <a:off x="1325880" y="2852928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Images as 16×16 patches — patches are tokens. Same Transformer, no convolutions.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457200" y="3429000"/>
            <a:ext cx="1124712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5"/>
          <p:cNvSpPr/>
          <p:nvPr/>
        </p:nvSpPr>
        <p:spPr>
          <a:xfrm>
            <a:off x="457200" y="3429000"/>
            <a:ext cx="91440" cy="82296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5" name="Google Shape;54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3657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15"/>
          <p:cNvSpPr/>
          <p:nvPr/>
        </p:nvSpPr>
        <p:spPr>
          <a:xfrm>
            <a:off x="1325880" y="35204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Decision Transformer (2021)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1325880" y="3813048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Cast RL as sequence modeling over (return, state, action) tokens.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5"/>
          <p:cNvSpPr/>
          <p:nvPr/>
        </p:nvSpPr>
        <p:spPr>
          <a:xfrm>
            <a:off x="457200" y="4389120"/>
            <a:ext cx="1124712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5"/>
          <p:cNvSpPr/>
          <p:nvPr/>
        </p:nvSpPr>
        <p:spPr>
          <a:xfrm>
            <a:off x="457200" y="4389120"/>
            <a:ext cx="91440" cy="82296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0" name="Google Shape;55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46177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5"/>
          <p:cNvSpPr/>
          <p:nvPr/>
        </p:nvSpPr>
        <p:spPr>
          <a:xfrm>
            <a:off x="1325880" y="44805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RT-2 / OpenVLA (2023–24)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1325880" y="4773168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Vision-language-action models — robot actions emitted as tokens by a Transformer decoder.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457200" y="5349240"/>
            <a:ext cx="1124712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5"/>
          <p:cNvSpPr/>
          <p:nvPr/>
        </p:nvSpPr>
        <p:spPr>
          <a:xfrm>
            <a:off x="457200" y="5349240"/>
            <a:ext cx="91440" cy="82296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5" name="Google Shape;55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40" y="5577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15"/>
          <p:cNvSpPr/>
          <p:nvPr/>
        </p:nvSpPr>
        <p:spPr>
          <a:xfrm>
            <a:off x="1325880" y="54406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π0, Octo, SmolVLA (2024–25)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1325880" y="5733288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Generalist policies for manipulation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5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CRoB locomanipulation group — USP, São Carlos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Dr. Ricardo V. de Godoy  ·  Neural Networks  ·  Transformers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6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solidFill>
            <a:srgbClr val="14B8A6">
              <a:alpha val="40000"/>
            </a:srgbClr>
          </a:solidFill>
          <a:ln cap="flat" cmpd="sng" w="12700">
            <a:solidFill>
              <a:srgbClr val="14B8A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6"/>
          <p:cNvSpPr/>
          <p:nvPr/>
        </p:nvSpPr>
        <p:spPr>
          <a:xfrm>
            <a:off x="457200" y="914400"/>
            <a:ext cx="274320" cy="274320"/>
          </a:xfrm>
          <a:prstGeom prst="rect">
            <a:avLst/>
          </a:prstGeom>
          <a:solidFill>
            <a:srgbClr val="14B8A6">
              <a:alpha val="34901"/>
            </a:srgbClr>
          </a:solidFill>
          <a:ln cap="flat" cmpd="sng" w="12700">
            <a:solidFill>
              <a:srgbClr val="14B8A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6"/>
          <p:cNvSpPr/>
          <p:nvPr/>
        </p:nvSpPr>
        <p:spPr>
          <a:xfrm>
            <a:off x="457200" y="1371600"/>
            <a:ext cx="274320" cy="274320"/>
          </a:xfrm>
          <a:prstGeom prst="rect">
            <a:avLst/>
          </a:prstGeom>
          <a:solidFill>
            <a:srgbClr val="14B8A6">
              <a:alpha val="30196"/>
            </a:srgbClr>
          </a:solidFill>
          <a:ln cap="flat" cmpd="sng" w="1270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6"/>
          <p:cNvSpPr/>
          <p:nvPr/>
        </p:nvSpPr>
        <p:spPr>
          <a:xfrm>
            <a:off x="914400" y="457200"/>
            <a:ext cx="274320" cy="274320"/>
          </a:xfrm>
          <a:prstGeom prst="rect">
            <a:avLst/>
          </a:prstGeom>
          <a:solidFill>
            <a:srgbClr val="14B8A6">
              <a:alpha val="34901"/>
            </a:srgbClr>
          </a:solidFill>
          <a:ln cap="flat" cmpd="sng" w="12700">
            <a:solidFill>
              <a:srgbClr val="14B8A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6"/>
          <p:cNvSpPr/>
          <p:nvPr/>
        </p:nvSpPr>
        <p:spPr>
          <a:xfrm>
            <a:off x="914400" y="914400"/>
            <a:ext cx="274320" cy="274320"/>
          </a:xfrm>
          <a:prstGeom prst="rect">
            <a:avLst/>
          </a:prstGeom>
          <a:solidFill>
            <a:srgbClr val="14B8A6">
              <a:alpha val="30196"/>
            </a:srgbClr>
          </a:solidFill>
          <a:ln cap="flat" cmpd="sng" w="1270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6"/>
          <p:cNvSpPr/>
          <p:nvPr/>
        </p:nvSpPr>
        <p:spPr>
          <a:xfrm>
            <a:off x="914400" y="1371600"/>
            <a:ext cx="274320" cy="274320"/>
          </a:xfrm>
          <a:prstGeom prst="rect">
            <a:avLst/>
          </a:prstGeom>
          <a:solidFill>
            <a:srgbClr val="14B8A6">
              <a:alpha val="25098"/>
            </a:srgbClr>
          </a:solidFill>
          <a:ln cap="flat" cmpd="sng" w="12700">
            <a:solidFill>
              <a:srgbClr val="14B8A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6"/>
          <p:cNvSpPr/>
          <p:nvPr/>
        </p:nvSpPr>
        <p:spPr>
          <a:xfrm>
            <a:off x="1371600" y="457200"/>
            <a:ext cx="274320" cy="274320"/>
          </a:xfrm>
          <a:prstGeom prst="rect">
            <a:avLst/>
          </a:prstGeom>
          <a:solidFill>
            <a:srgbClr val="14B8A6">
              <a:alpha val="30196"/>
            </a:srgbClr>
          </a:solidFill>
          <a:ln cap="flat" cmpd="sng" w="1270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6"/>
          <p:cNvSpPr/>
          <p:nvPr/>
        </p:nvSpPr>
        <p:spPr>
          <a:xfrm>
            <a:off x="1371600" y="914400"/>
            <a:ext cx="274320" cy="274320"/>
          </a:xfrm>
          <a:prstGeom prst="rect">
            <a:avLst/>
          </a:prstGeom>
          <a:solidFill>
            <a:srgbClr val="14B8A6">
              <a:alpha val="25098"/>
            </a:srgbClr>
          </a:solidFill>
          <a:ln cap="flat" cmpd="sng" w="12700">
            <a:solidFill>
              <a:srgbClr val="14B8A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6"/>
          <p:cNvSpPr/>
          <p:nvPr/>
        </p:nvSpPr>
        <p:spPr>
          <a:xfrm>
            <a:off x="1371600" y="1371600"/>
            <a:ext cx="274320" cy="274320"/>
          </a:xfrm>
          <a:prstGeom prst="rect">
            <a:avLst/>
          </a:prstGeom>
          <a:solidFill>
            <a:srgbClr val="14B8A6">
              <a:alpha val="20000"/>
            </a:srgbClr>
          </a:solidFill>
          <a:ln cap="flat" cmpd="sng" w="12700">
            <a:solidFill>
              <a:srgbClr val="14B8A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6"/>
          <p:cNvSpPr/>
          <p:nvPr/>
        </p:nvSpPr>
        <p:spPr>
          <a:xfrm>
            <a:off x="1828800" y="457200"/>
            <a:ext cx="274320" cy="274320"/>
          </a:xfrm>
          <a:prstGeom prst="rect">
            <a:avLst/>
          </a:prstGeom>
          <a:solidFill>
            <a:srgbClr val="14B8A6">
              <a:alpha val="25098"/>
            </a:srgbClr>
          </a:solidFill>
          <a:ln cap="flat" cmpd="sng" w="12700">
            <a:solidFill>
              <a:srgbClr val="14B8A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6"/>
          <p:cNvSpPr/>
          <p:nvPr/>
        </p:nvSpPr>
        <p:spPr>
          <a:xfrm>
            <a:off x="1828800" y="914400"/>
            <a:ext cx="274320" cy="274320"/>
          </a:xfrm>
          <a:prstGeom prst="rect">
            <a:avLst/>
          </a:prstGeom>
          <a:solidFill>
            <a:srgbClr val="14B8A6">
              <a:alpha val="20000"/>
            </a:srgbClr>
          </a:solidFill>
          <a:ln cap="flat" cmpd="sng" w="12700">
            <a:solidFill>
              <a:srgbClr val="14B8A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6"/>
          <p:cNvSpPr/>
          <p:nvPr/>
        </p:nvSpPr>
        <p:spPr>
          <a:xfrm>
            <a:off x="1828800" y="1371600"/>
            <a:ext cx="274320" cy="274320"/>
          </a:xfrm>
          <a:prstGeom prst="rect">
            <a:avLst/>
          </a:prstGeom>
          <a:solidFill>
            <a:srgbClr val="14B8A6">
              <a:alpha val="14901"/>
            </a:srgbClr>
          </a:solidFill>
          <a:ln cap="flat" cmpd="sng" w="12700">
            <a:solidFill>
              <a:srgbClr val="14B8A6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6"/>
          <p:cNvSpPr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6"/>
          <p:cNvSpPr/>
          <p:nvPr/>
        </p:nvSpPr>
        <p:spPr>
          <a:xfrm>
            <a:off x="457200" y="256032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lang="en-US" sz="4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Recap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6"/>
          <p:cNvSpPr/>
          <p:nvPr/>
        </p:nvSpPr>
        <p:spPr>
          <a:xfrm>
            <a:off x="2011680" y="3794760"/>
            <a:ext cx="182880" cy="18288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6"/>
          <p:cNvSpPr/>
          <p:nvPr/>
        </p:nvSpPr>
        <p:spPr>
          <a:xfrm>
            <a:off x="2286000" y="3721608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Self-attention replaces recurrence with parallel, content-based mixing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6"/>
          <p:cNvSpPr/>
          <p:nvPr/>
        </p:nvSpPr>
        <p:spPr>
          <a:xfrm>
            <a:off x="2011680" y="4206240"/>
            <a:ext cx="182880" cy="18288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6"/>
          <p:cNvSpPr/>
          <p:nvPr/>
        </p:nvSpPr>
        <p:spPr>
          <a:xfrm>
            <a:off x="2286000" y="4133088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Q, K, V + scaled dot product + multi-head = the full attention layer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6"/>
          <p:cNvSpPr/>
          <p:nvPr/>
        </p:nvSpPr>
        <p:spPr>
          <a:xfrm>
            <a:off x="2011680" y="4617720"/>
            <a:ext cx="182880" cy="18288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6"/>
          <p:cNvSpPr/>
          <p:nvPr/>
        </p:nvSpPr>
        <p:spPr>
          <a:xfrm>
            <a:off x="2286000" y="4544568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Residuals, LayerNorm, and FFN stacked N times form the Transformer block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6"/>
          <p:cNvSpPr/>
          <p:nvPr/>
        </p:nvSpPr>
        <p:spPr>
          <a:xfrm>
            <a:off x="2011680" y="5029200"/>
            <a:ext cx="182880" cy="18288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6"/>
          <p:cNvSpPr/>
          <p:nvPr/>
        </p:nvSpPr>
        <p:spPr>
          <a:xfrm>
            <a:off x="2286000" y="4956048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The same block </a:t>
            </a:r>
            <a:r>
              <a:rPr lang="en-US" sz="15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can </a:t>
            </a:r>
            <a:r>
              <a:rPr lang="en-US" sz="15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be used for </a:t>
            </a:r>
            <a:r>
              <a:rPr b="0" i="0" lang="en-US" sz="15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text, vision, audio, robot control, and more!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6"/>
          <p:cNvSpPr/>
          <p:nvPr/>
        </p:nvSpPr>
        <p:spPr>
          <a:xfrm>
            <a:off x="3200400" y="5669280"/>
            <a:ext cx="5760720" cy="82296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6"/>
          <p:cNvSpPr/>
          <p:nvPr/>
        </p:nvSpPr>
        <p:spPr>
          <a:xfrm>
            <a:off x="3200400" y="5669280"/>
            <a:ext cx="5760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☕  Break until 15:50 — then: hands-on Colab challenge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2026-04-10T12:19:39Z</dcterms:created>
  <dc:creator>Dr. Ricardo V. de Godoy</dc:creator>
</cp:coreProperties>
</file>